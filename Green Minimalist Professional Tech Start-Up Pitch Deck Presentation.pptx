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otham" charset="1" panose="00000000000000000000"/>
      <p:regular r:id="rId19"/>
    </p:embeddedFont>
    <p:embeddedFont>
      <p:font typeface="Gotham Bold" charset="1" panose="00000000000000000000"/>
      <p:regular r:id="rId20"/>
    </p:embeddedFont>
    <p:embeddedFont>
      <p:font typeface="Times New Roman Condensed" charset="1" panose="02030506070405020303"/>
      <p:regular r:id="rId21"/>
    </p:embeddedFont>
    <p:embeddedFont>
      <p:font typeface="Canva Sans Bold" charset="1" panose="020B0803030501040103"/>
      <p:regular r:id="rId22"/>
    </p:embeddedFont>
    <p:embeddedFont>
      <p:font typeface="Times New Roman Condensed Italics" charset="1" panose="020305060704050903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Freeform 2" id="2"/>
          <p:cNvSpPr/>
          <p:nvPr/>
        </p:nvSpPr>
        <p:spPr>
          <a:xfrm flipH="false" flipV="false" rot="0">
            <a:off x="4490515" y="-2377820"/>
            <a:ext cx="19285436" cy="15042640"/>
          </a:xfrm>
          <a:custGeom>
            <a:avLst/>
            <a:gdLst/>
            <a:ahLst/>
            <a:cxnLst/>
            <a:rect r="r" b="b" t="t" l="l"/>
            <a:pathLst>
              <a:path h="15042640" w="19285436">
                <a:moveTo>
                  <a:pt x="0" y="0"/>
                </a:moveTo>
                <a:lnTo>
                  <a:pt x="19285437" y="0"/>
                </a:lnTo>
                <a:lnTo>
                  <a:pt x="19285437" y="15042640"/>
                </a:lnTo>
                <a:lnTo>
                  <a:pt x="0" y="150426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10361" y="485775"/>
            <a:ext cx="5814185" cy="542925"/>
          </a:xfrm>
          <a:prstGeom prst="rect">
            <a:avLst/>
          </a:prstGeom>
        </p:spPr>
        <p:txBody>
          <a:bodyPr anchor="t" rtlCol="false" tIns="0" lIns="0" bIns="0" rIns="0">
            <a:spAutoFit/>
          </a:bodyPr>
          <a:lstStyle/>
          <a:p>
            <a:pPr algn="l">
              <a:lnSpc>
                <a:spcPts val="4200"/>
              </a:lnSpc>
            </a:pPr>
            <a:r>
              <a:rPr lang="en-US" sz="3500" spc="-52" u="sng">
                <a:solidFill>
                  <a:srgbClr val="0E4714"/>
                </a:solidFill>
                <a:latin typeface="Gotham"/>
                <a:ea typeface="Gotham"/>
                <a:cs typeface="Gotham"/>
                <a:sym typeface="Gotham"/>
              </a:rPr>
              <a:t>TITLE OF THE  PROJECT</a:t>
            </a:r>
          </a:p>
        </p:txBody>
      </p:sp>
      <p:sp>
        <p:nvSpPr>
          <p:cNvPr name="TextBox 4" id="4"/>
          <p:cNvSpPr txBox="true"/>
          <p:nvPr/>
        </p:nvSpPr>
        <p:spPr>
          <a:xfrm rot="0">
            <a:off x="1782950" y="7890636"/>
            <a:ext cx="8455703" cy="419100"/>
          </a:xfrm>
          <a:prstGeom prst="rect">
            <a:avLst/>
          </a:prstGeom>
        </p:spPr>
        <p:txBody>
          <a:bodyPr anchor="t" rtlCol="false" tIns="0" lIns="0" bIns="0" rIns="0">
            <a:spAutoFit/>
          </a:bodyPr>
          <a:lstStyle/>
          <a:p>
            <a:pPr algn="l">
              <a:lnSpc>
                <a:spcPts val="3239"/>
              </a:lnSpc>
            </a:pPr>
            <a:r>
              <a:rPr lang="en-US" sz="2699" b="true">
                <a:solidFill>
                  <a:srgbClr val="0E4714"/>
                </a:solidFill>
                <a:latin typeface="Gotham Bold"/>
                <a:ea typeface="Gotham Bold"/>
                <a:cs typeface="Gotham Bold"/>
                <a:sym typeface="Gotham Bold"/>
              </a:rPr>
              <a:t>BEEE304L- POWER SYSTEMS ENGINEERING</a:t>
            </a:r>
          </a:p>
        </p:txBody>
      </p:sp>
      <p:sp>
        <p:nvSpPr>
          <p:cNvPr name="Freeform 5" id="5"/>
          <p:cNvSpPr/>
          <p:nvPr/>
        </p:nvSpPr>
        <p:spPr>
          <a:xfrm flipH="false" flipV="false" rot="0">
            <a:off x="1016407" y="7640244"/>
            <a:ext cx="718917" cy="669492"/>
          </a:xfrm>
          <a:custGeom>
            <a:avLst/>
            <a:gdLst/>
            <a:ahLst/>
            <a:cxnLst/>
            <a:rect r="r" b="b" t="t" l="l"/>
            <a:pathLst>
              <a:path h="669492" w="718917">
                <a:moveTo>
                  <a:pt x="0" y="0"/>
                </a:moveTo>
                <a:lnTo>
                  <a:pt x="718918" y="0"/>
                </a:lnTo>
                <a:lnTo>
                  <a:pt x="718918" y="669492"/>
                </a:lnTo>
                <a:lnTo>
                  <a:pt x="0" y="669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810361" y="2151440"/>
            <a:ext cx="17477639" cy="4186295"/>
          </a:xfrm>
          <a:prstGeom prst="rect">
            <a:avLst/>
          </a:prstGeom>
        </p:spPr>
        <p:txBody>
          <a:bodyPr anchor="t" rtlCol="false" tIns="0" lIns="0" bIns="0" rIns="0">
            <a:spAutoFit/>
          </a:bodyPr>
          <a:lstStyle/>
          <a:p>
            <a:pPr algn="l">
              <a:lnSpc>
                <a:spcPts val="10759"/>
              </a:lnSpc>
              <a:spcBef>
                <a:spcPct val="0"/>
              </a:spcBef>
            </a:pPr>
            <a:r>
              <a:rPr lang="en-US" sz="7685" spc="-192">
                <a:solidFill>
                  <a:srgbClr val="0E4714"/>
                </a:solidFill>
                <a:latin typeface="Times New Roman Condensed"/>
                <a:ea typeface="Times New Roman Condensed"/>
                <a:cs typeface="Times New Roman Condensed"/>
                <a:sym typeface="Times New Roman Condensed"/>
              </a:rPr>
              <a:t>SUSTAINABLE ENERGY EXCHANGE BETWEEN HOUSEHOLDS USING SOLAR POWER INTEGRATION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Freeform 2" id="2"/>
          <p:cNvSpPr/>
          <p:nvPr/>
        </p:nvSpPr>
        <p:spPr>
          <a:xfrm flipH="false" flipV="false" rot="0">
            <a:off x="1829682" y="-545920"/>
            <a:ext cx="28550447" cy="11313545"/>
          </a:xfrm>
          <a:custGeom>
            <a:avLst/>
            <a:gdLst/>
            <a:ahLst/>
            <a:cxnLst/>
            <a:rect r="r" b="b" t="t" l="l"/>
            <a:pathLst>
              <a:path h="11313545" w="28550447">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l="0" t="-49969" r="0" b="-59256"/>
            </a:stretch>
          </a:blipFill>
        </p:spPr>
      </p:sp>
      <p:sp>
        <p:nvSpPr>
          <p:cNvPr name="TextBox 3" id="3"/>
          <p:cNvSpPr txBox="true"/>
          <p:nvPr/>
        </p:nvSpPr>
        <p:spPr>
          <a:xfrm rot="0">
            <a:off x="1028700" y="1450334"/>
            <a:ext cx="11269282" cy="1522967"/>
          </a:xfrm>
          <a:prstGeom prst="rect">
            <a:avLst/>
          </a:prstGeom>
        </p:spPr>
        <p:txBody>
          <a:bodyPr anchor="t" rtlCol="false" tIns="0" lIns="0" bIns="0" rIns="0">
            <a:spAutoFit/>
          </a:bodyPr>
          <a:lstStyle/>
          <a:p>
            <a:pPr algn="l">
              <a:lnSpc>
                <a:spcPts val="9469"/>
              </a:lnSpc>
            </a:pPr>
            <a:r>
              <a:rPr lang="en-US" sz="10884" spc="-272">
                <a:solidFill>
                  <a:srgbClr val="0E4714"/>
                </a:solidFill>
                <a:latin typeface="Times New Roman Condensed"/>
                <a:ea typeface="Times New Roman Condensed"/>
                <a:cs typeface="Times New Roman Condensed"/>
                <a:sym typeface="Times New Roman Condensed"/>
              </a:rPr>
              <a:t>TEAM MEMBERS</a:t>
            </a:r>
          </a:p>
        </p:txBody>
      </p:sp>
      <p:sp>
        <p:nvSpPr>
          <p:cNvPr name="TextBox 4" id="4"/>
          <p:cNvSpPr txBox="true"/>
          <p:nvPr/>
        </p:nvSpPr>
        <p:spPr>
          <a:xfrm rot="0">
            <a:off x="1028700" y="5050036"/>
            <a:ext cx="7877184" cy="1627253"/>
          </a:xfrm>
          <a:prstGeom prst="rect">
            <a:avLst/>
          </a:prstGeom>
        </p:spPr>
        <p:txBody>
          <a:bodyPr anchor="t" rtlCol="false" tIns="0" lIns="0" bIns="0" rIns="0">
            <a:spAutoFit/>
          </a:bodyPr>
          <a:lstStyle/>
          <a:p>
            <a:pPr algn="l">
              <a:lnSpc>
                <a:spcPts val="6731"/>
              </a:lnSpc>
            </a:pPr>
            <a:r>
              <a:rPr lang="en-US" sz="3599" spc="-53">
                <a:solidFill>
                  <a:srgbClr val="0E4714"/>
                </a:solidFill>
                <a:latin typeface="Gotham"/>
                <a:ea typeface="Gotham"/>
                <a:cs typeface="Gotham"/>
                <a:sym typeface="Gotham"/>
              </a:rPr>
              <a:t>RITVIK ANISH - 23BEE1018</a:t>
            </a:r>
          </a:p>
          <a:p>
            <a:pPr algn="l">
              <a:lnSpc>
                <a:spcPts val="6731"/>
              </a:lnSpc>
            </a:pPr>
            <a:r>
              <a:rPr lang="en-US" sz="3599" spc="-53">
                <a:solidFill>
                  <a:srgbClr val="0E4714"/>
                </a:solidFill>
                <a:latin typeface="Gotham"/>
                <a:ea typeface="Gotham"/>
                <a:cs typeface="Gotham"/>
                <a:sym typeface="Gotham"/>
              </a:rPr>
              <a:t>SANJH YADAV - 23BEE1043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1162050"/>
            <a:ext cx="14423006" cy="1522967"/>
          </a:xfrm>
          <a:prstGeom prst="rect">
            <a:avLst/>
          </a:prstGeom>
        </p:spPr>
        <p:txBody>
          <a:bodyPr anchor="t" rtlCol="false" tIns="0" lIns="0" bIns="0" rIns="0">
            <a:spAutoFit/>
          </a:bodyPr>
          <a:lstStyle/>
          <a:p>
            <a:pPr algn="l">
              <a:lnSpc>
                <a:spcPts val="9469"/>
              </a:lnSpc>
            </a:pPr>
            <a:r>
              <a:rPr lang="en-US" sz="10884" spc="-272">
                <a:solidFill>
                  <a:srgbClr val="0E4714"/>
                </a:solidFill>
                <a:latin typeface="Times New Roman Condensed"/>
                <a:ea typeface="Times New Roman Condensed"/>
                <a:cs typeface="Times New Roman Condensed"/>
                <a:sym typeface="Times New Roman Condensed"/>
              </a:rPr>
              <a:t>PROBLEM STATEMENT</a:t>
            </a:r>
          </a:p>
        </p:txBody>
      </p:sp>
      <p:sp>
        <p:nvSpPr>
          <p:cNvPr name="Freeform 3" id="3"/>
          <p:cNvSpPr/>
          <p:nvPr/>
        </p:nvSpPr>
        <p:spPr>
          <a:xfrm flipH="true" flipV="false" rot="0">
            <a:off x="11415085" y="-545920"/>
            <a:ext cx="28550447" cy="11313545"/>
          </a:xfrm>
          <a:custGeom>
            <a:avLst/>
            <a:gdLst/>
            <a:ahLst/>
            <a:cxnLst/>
            <a:rect r="r" b="b" t="t" l="l"/>
            <a:pathLst>
              <a:path h="11313545" w="28550447">
                <a:moveTo>
                  <a:pt x="28550447" y="0"/>
                </a:moveTo>
                <a:lnTo>
                  <a:pt x="0" y="0"/>
                </a:lnTo>
                <a:lnTo>
                  <a:pt x="0" y="11313545"/>
                </a:lnTo>
                <a:lnTo>
                  <a:pt x="28550447" y="11313545"/>
                </a:lnTo>
                <a:lnTo>
                  <a:pt x="28550447" y="0"/>
                </a:lnTo>
                <a:close/>
              </a:path>
            </a:pathLst>
          </a:custGeom>
          <a:blipFill>
            <a:blip r:embed="rId2">
              <a:extLst>
                <a:ext uri="{96DAC541-7B7A-43D3-8B79-37D633B846F1}">
                  <asvg:svgBlip xmlns:asvg="http://schemas.microsoft.com/office/drawing/2016/SVG/main" r:embed="rId3"/>
                </a:ext>
              </a:extLst>
            </a:blip>
            <a:stretch>
              <a:fillRect l="0" t="-49969" r="0" b="-59256"/>
            </a:stretch>
          </a:blipFill>
        </p:spPr>
      </p:sp>
      <p:sp>
        <p:nvSpPr>
          <p:cNvPr name="TextBox 4" id="4"/>
          <p:cNvSpPr txBox="true"/>
          <p:nvPr/>
        </p:nvSpPr>
        <p:spPr>
          <a:xfrm rot="0">
            <a:off x="1028700" y="2980007"/>
            <a:ext cx="12307091" cy="6179821"/>
          </a:xfrm>
          <a:prstGeom prst="rect">
            <a:avLst/>
          </a:prstGeom>
        </p:spPr>
        <p:txBody>
          <a:bodyPr anchor="t" rtlCol="false" tIns="0" lIns="0" bIns="0" rIns="0">
            <a:spAutoFit/>
          </a:bodyPr>
          <a:lstStyle/>
          <a:p>
            <a:pPr algn="just">
              <a:lnSpc>
                <a:spcPts val="3779"/>
              </a:lnSpc>
              <a:spcBef>
                <a:spcPct val="0"/>
              </a:spcBef>
            </a:pPr>
            <a:r>
              <a:rPr lang="en-US" sz="2699">
                <a:solidFill>
                  <a:srgbClr val="0E4714"/>
                </a:solidFill>
                <a:latin typeface="Gotham"/>
                <a:ea typeface="Gotham"/>
                <a:cs typeface="Gotham"/>
                <a:sym typeface="Gotham"/>
              </a:rPr>
              <a:t>With increasing residential electricity demand and growing adoption of distributed renewable energy sources such as solar photovoltaics, there exists an opportunity to enhance energy efficiency and grid reliability through localized peer-to-peer power sharing. Traditional power supply frameworks treat households as independent consumers reliant solely on the central electricity board (EB), which can lead to inefficiencies during peak load periods. Furthermore, surplus solar energy generated by one household often remains underutilized or fed back to the grid with limited benefits. This project addresses the challenge of enabling direct power trading between neighboring houses—House A with solar generation and House B without—to optimize energy usage, reduce dependence on the central grid, and provide economic and sustainability benefits.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Freeform 2" id="2"/>
          <p:cNvSpPr/>
          <p:nvPr/>
        </p:nvSpPr>
        <p:spPr>
          <a:xfrm flipH="false" flipV="false" rot="0">
            <a:off x="1829682" y="-545920"/>
            <a:ext cx="28550447" cy="11313545"/>
          </a:xfrm>
          <a:custGeom>
            <a:avLst/>
            <a:gdLst/>
            <a:ahLst/>
            <a:cxnLst/>
            <a:rect r="r" b="b" t="t" l="l"/>
            <a:pathLst>
              <a:path h="11313545" w="28550447">
                <a:moveTo>
                  <a:pt x="0" y="0"/>
                </a:moveTo>
                <a:lnTo>
                  <a:pt x="28550447" y="0"/>
                </a:lnTo>
                <a:lnTo>
                  <a:pt x="28550447" y="11313545"/>
                </a:lnTo>
                <a:lnTo>
                  <a:pt x="0" y="11313545"/>
                </a:lnTo>
                <a:lnTo>
                  <a:pt x="0" y="0"/>
                </a:lnTo>
                <a:close/>
              </a:path>
            </a:pathLst>
          </a:custGeom>
          <a:blipFill>
            <a:blip r:embed="rId2">
              <a:extLst>
                <a:ext uri="{96DAC541-7B7A-43D3-8B79-37D633B846F1}">
                  <asvg:svgBlip xmlns:asvg="http://schemas.microsoft.com/office/drawing/2016/SVG/main" r:embed="rId3"/>
                </a:ext>
              </a:extLst>
            </a:blip>
            <a:stretch>
              <a:fillRect l="0" t="-49969" r="0" b="-59256"/>
            </a:stretch>
          </a:blipFill>
        </p:spPr>
      </p:sp>
      <p:sp>
        <p:nvSpPr>
          <p:cNvPr name="TextBox 3" id="3"/>
          <p:cNvSpPr txBox="true"/>
          <p:nvPr/>
        </p:nvSpPr>
        <p:spPr>
          <a:xfrm rot="0">
            <a:off x="1028700" y="885132"/>
            <a:ext cx="11269282" cy="2723117"/>
          </a:xfrm>
          <a:prstGeom prst="rect">
            <a:avLst/>
          </a:prstGeom>
        </p:spPr>
        <p:txBody>
          <a:bodyPr anchor="t" rtlCol="false" tIns="0" lIns="0" bIns="0" rIns="0">
            <a:spAutoFit/>
          </a:bodyPr>
          <a:lstStyle/>
          <a:p>
            <a:pPr algn="l">
              <a:lnSpc>
                <a:spcPts val="9469"/>
              </a:lnSpc>
            </a:pPr>
            <a:r>
              <a:rPr lang="en-US" sz="10884" spc="-272">
                <a:solidFill>
                  <a:srgbClr val="0E4714"/>
                </a:solidFill>
                <a:latin typeface="Times New Roman Condensed"/>
                <a:ea typeface="Times New Roman Condensed"/>
                <a:cs typeface="Times New Roman Condensed"/>
                <a:sym typeface="Times New Roman Condensed"/>
              </a:rPr>
              <a:t>COMPONENTS REQUIRED</a:t>
            </a:r>
          </a:p>
        </p:txBody>
      </p:sp>
      <p:sp>
        <p:nvSpPr>
          <p:cNvPr name="TextBox 4" id="4"/>
          <p:cNvSpPr txBox="true"/>
          <p:nvPr/>
        </p:nvSpPr>
        <p:spPr>
          <a:xfrm rot="0">
            <a:off x="1028700" y="3444676"/>
            <a:ext cx="16403919" cy="5136516"/>
          </a:xfrm>
          <a:prstGeom prst="rect">
            <a:avLst/>
          </a:prstGeom>
        </p:spPr>
        <p:txBody>
          <a:bodyPr anchor="t" rtlCol="false" tIns="0" lIns="0" bIns="0" rIns="0">
            <a:spAutoFit/>
          </a:bodyPr>
          <a:lstStyle/>
          <a:p>
            <a:pPr algn="just" marL="626104" indent="-313052" lvl="1">
              <a:lnSpc>
                <a:spcPts val="4059"/>
              </a:lnSpc>
              <a:buFont typeface="Arial"/>
              <a:buChar char="•"/>
            </a:pPr>
            <a:r>
              <a:rPr lang="en-US" sz="2899">
                <a:solidFill>
                  <a:srgbClr val="0E4714"/>
                </a:solidFill>
                <a:latin typeface="Gotham"/>
                <a:ea typeface="Gotham"/>
                <a:cs typeface="Gotham"/>
                <a:sym typeface="Gotham"/>
              </a:rPr>
              <a:t>9V LiPO Battery (For EB)</a:t>
            </a:r>
          </a:p>
          <a:p>
            <a:pPr algn="just" marL="626104" indent="-313052" lvl="1">
              <a:lnSpc>
                <a:spcPts val="4059"/>
              </a:lnSpc>
              <a:buFont typeface="Arial"/>
              <a:buChar char="•"/>
            </a:pPr>
            <a:r>
              <a:rPr lang="en-US" sz="2899">
                <a:solidFill>
                  <a:srgbClr val="0E4714"/>
                </a:solidFill>
                <a:latin typeface="Gotham"/>
                <a:ea typeface="Gotham"/>
                <a:cs typeface="Gotham"/>
                <a:sym typeface="Gotham"/>
              </a:rPr>
              <a:t>Contractor - DPDT/ 2-pole changeover (2)</a:t>
            </a:r>
          </a:p>
          <a:p>
            <a:pPr algn="just" marL="626104" indent="-313052" lvl="1">
              <a:lnSpc>
                <a:spcPts val="4059"/>
              </a:lnSpc>
              <a:buFont typeface="Arial"/>
              <a:buChar char="•"/>
            </a:pPr>
            <a:r>
              <a:rPr lang="en-US" sz="2899">
                <a:solidFill>
                  <a:srgbClr val="0E4714"/>
                </a:solidFill>
                <a:latin typeface="Gotham"/>
                <a:ea typeface="Gotham"/>
                <a:cs typeface="Gotham"/>
                <a:sym typeface="Gotham"/>
              </a:rPr>
              <a:t>Relay + Buck Converter (Acts as Circuit Breaker)</a:t>
            </a:r>
          </a:p>
          <a:p>
            <a:pPr algn="just" marL="626104" indent="-313052" lvl="1">
              <a:lnSpc>
                <a:spcPts val="4059"/>
              </a:lnSpc>
              <a:buFont typeface="Arial"/>
              <a:buChar char="•"/>
            </a:pPr>
            <a:r>
              <a:rPr lang="en-US" sz="2899">
                <a:solidFill>
                  <a:srgbClr val="0E4714"/>
                </a:solidFill>
                <a:latin typeface="Gotham"/>
                <a:ea typeface="Gotham"/>
                <a:cs typeface="Gotham"/>
                <a:sym typeface="Gotham"/>
              </a:rPr>
              <a:t>Cables, Sockets, Plugs</a:t>
            </a:r>
          </a:p>
          <a:p>
            <a:pPr algn="just" marL="626104" indent="-313052" lvl="1">
              <a:lnSpc>
                <a:spcPts val="4059"/>
              </a:lnSpc>
              <a:buFont typeface="Arial"/>
              <a:buChar char="•"/>
            </a:pPr>
            <a:r>
              <a:rPr lang="en-US" sz="2899">
                <a:solidFill>
                  <a:srgbClr val="0E4714"/>
                </a:solidFill>
                <a:latin typeface="Gotham"/>
                <a:ea typeface="Gotham"/>
                <a:cs typeface="Gotham"/>
                <a:sym typeface="Gotham"/>
              </a:rPr>
              <a:t>ESP32 Microcontroller (Wifi Module for IoT)</a:t>
            </a:r>
          </a:p>
          <a:p>
            <a:pPr algn="just" marL="626104" indent="-313052" lvl="1">
              <a:lnSpc>
                <a:spcPts val="4059"/>
              </a:lnSpc>
              <a:buFont typeface="Arial"/>
              <a:buChar char="•"/>
            </a:pPr>
            <a:r>
              <a:rPr lang="en-US" sz="2899">
                <a:solidFill>
                  <a:srgbClr val="0E4714"/>
                </a:solidFill>
                <a:latin typeface="Gotham"/>
                <a:ea typeface="Gotham"/>
                <a:cs typeface="Gotham"/>
                <a:sym typeface="Gotham"/>
              </a:rPr>
              <a:t>Current Sensor (INA219)</a:t>
            </a:r>
          </a:p>
          <a:p>
            <a:pPr algn="just" marL="626104" indent="-313052" lvl="1">
              <a:lnSpc>
                <a:spcPts val="4059"/>
              </a:lnSpc>
              <a:buFont typeface="Arial"/>
              <a:buChar char="•"/>
            </a:pPr>
            <a:r>
              <a:rPr lang="en-US" sz="2899">
                <a:solidFill>
                  <a:srgbClr val="0E4714"/>
                </a:solidFill>
                <a:latin typeface="Gotham"/>
                <a:ea typeface="Gotham"/>
                <a:cs typeface="Gotham"/>
                <a:sym typeface="Gotham"/>
              </a:rPr>
              <a:t>Voltage sensor</a:t>
            </a:r>
          </a:p>
          <a:p>
            <a:pPr algn="just" marL="626104" indent="-313052" lvl="1">
              <a:lnSpc>
                <a:spcPts val="4059"/>
              </a:lnSpc>
              <a:buFont typeface="Arial"/>
              <a:buChar char="•"/>
            </a:pPr>
            <a:r>
              <a:rPr lang="en-US" sz="2899">
                <a:solidFill>
                  <a:srgbClr val="0E4714"/>
                </a:solidFill>
                <a:latin typeface="Gotham"/>
                <a:ea typeface="Gotham"/>
                <a:cs typeface="Gotham"/>
                <a:sym typeface="Gotham"/>
              </a:rPr>
              <a:t>LED for request indication</a:t>
            </a:r>
          </a:p>
          <a:p>
            <a:pPr algn="just" marL="626104" indent="-313052" lvl="1">
              <a:lnSpc>
                <a:spcPts val="4059"/>
              </a:lnSpc>
              <a:buFont typeface="Arial"/>
              <a:buChar char="•"/>
            </a:pPr>
            <a:r>
              <a:rPr lang="en-US" sz="2899">
                <a:solidFill>
                  <a:srgbClr val="0E4714"/>
                </a:solidFill>
                <a:latin typeface="Gotham"/>
                <a:ea typeface="Gotham"/>
                <a:cs typeface="Gotham"/>
                <a:sym typeface="Gotham"/>
              </a:rPr>
              <a:t>Solar Panel/ Solar cell - 5V</a:t>
            </a:r>
          </a:p>
          <a:p>
            <a:pPr algn="just" marL="626104" indent="-313052" lvl="1">
              <a:lnSpc>
                <a:spcPts val="4059"/>
              </a:lnSpc>
              <a:buFont typeface="Arial"/>
              <a:buChar char="•"/>
            </a:pPr>
            <a:r>
              <a:rPr lang="en-US" sz="2899">
                <a:solidFill>
                  <a:srgbClr val="0E4714"/>
                </a:solidFill>
                <a:latin typeface="Gotham"/>
                <a:ea typeface="Gotham"/>
                <a:cs typeface="Gotham"/>
                <a:sym typeface="Gotham"/>
              </a:rPr>
              <a:t>Panel Box, Enclosures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1450334"/>
            <a:ext cx="16230600" cy="1522967"/>
          </a:xfrm>
          <a:prstGeom prst="rect">
            <a:avLst/>
          </a:prstGeom>
        </p:spPr>
        <p:txBody>
          <a:bodyPr anchor="t" rtlCol="false" tIns="0" lIns="0" bIns="0" rIns="0">
            <a:spAutoFit/>
          </a:bodyPr>
          <a:lstStyle/>
          <a:p>
            <a:pPr algn="l">
              <a:lnSpc>
                <a:spcPts val="9469"/>
              </a:lnSpc>
            </a:pPr>
            <a:r>
              <a:rPr lang="en-US" sz="10884" spc="-272">
                <a:solidFill>
                  <a:srgbClr val="0E4714"/>
                </a:solidFill>
                <a:latin typeface="Times New Roman Condensed"/>
                <a:ea typeface="Times New Roman Condensed"/>
                <a:cs typeface="Times New Roman Condensed"/>
                <a:sym typeface="Times New Roman Condensed"/>
              </a:rPr>
              <a:t>INTRODUCTION</a:t>
            </a:r>
          </a:p>
        </p:txBody>
      </p:sp>
      <p:sp>
        <p:nvSpPr>
          <p:cNvPr name="Freeform 3" id="3"/>
          <p:cNvSpPr/>
          <p:nvPr/>
        </p:nvSpPr>
        <p:spPr>
          <a:xfrm flipH="false" flipV="false" rot="0">
            <a:off x="12210852" y="-1063244"/>
            <a:ext cx="8434028" cy="6114306"/>
          </a:xfrm>
          <a:custGeom>
            <a:avLst/>
            <a:gdLst/>
            <a:ahLst/>
            <a:cxnLst/>
            <a:rect r="r" b="b" t="t" l="l"/>
            <a:pathLst>
              <a:path h="6114306" w="8434028">
                <a:moveTo>
                  <a:pt x="0" y="0"/>
                </a:moveTo>
                <a:lnTo>
                  <a:pt x="8434028" y="0"/>
                </a:lnTo>
                <a:lnTo>
                  <a:pt x="8434028" y="6114305"/>
                </a:lnTo>
                <a:lnTo>
                  <a:pt x="0" y="6114305"/>
                </a:lnTo>
                <a:lnTo>
                  <a:pt x="0" y="0"/>
                </a:lnTo>
                <a:close/>
              </a:path>
            </a:pathLst>
          </a:custGeom>
          <a:blipFill>
            <a:blip r:embed="rId2">
              <a:extLst>
                <a:ext uri="{96DAC541-7B7A-43D3-8B79-37D633B846F1}">
                  <asvg:svgBlip xmlns:asvg="http://schemas.microsoft.com/office/drawing/2016/SVG/main" r:embed="rId3"/>
                </a:ext>
              </a:extLst>
            </a:blip>
            <a:stretch>
              <a:fillRect l="0" t="-93483" r="-128662" b="-52540"/>
            </a:stretch>
          </a:blipFill>
        </p:spPr>
      </p:sp>
      <p:sp>
        <p:nvSpPr>
          <p:cNvPr name="TextBox 4" id="4"/>
          <p:cNvSpPr txBox="true"/>
          <p:nvPr/>
        </p:nvSpPr>
        <p:spPr>
          <a:xfrm rot="0">
            <a:off x="1028700" y="3387526"/>
            <a:ext cx="16403919" cy="6679566"/>
          </a:xfrm>
          <a:prstGeom prst="rect">
            <a:avLst/>
          </a:prstGeom>
        </p:spPr>
        <p:txBody>
          <a:bodyPr anchor="t" rtlCol="false" tIns="0" lIns="0" bIns="0" rIns="0">
            <a:spAutoFit/>
          </a:bodyPr>
          <a:lstStyle/>
          <a:p>
            <a:pPr algn="just">
              <a:lnSpc>
                <a:spcPts val="4059"/>
              </a:lnSpc>
              <a:spcBef>
                <a:spcPct val="0"/>
              </a:spcBef>
            </a:pPr>
            <a:r>
              <a:rPr lang="en-US" sz="2899">
                <a:solidFill>
                  <a:srgbClr val="0E4714"/>
                </a:solidFill>
                <a:latin typeface="Gotham"/>
                <a:ea typeface="Gotham"/>
                <a:cs typeface="Gotham"/>
                <a:sym typeface="Gotham"/>
              </a:rPr>
              <a:t>The rising global electricity demand and the need to cut greenhouse gas emissions have accelerated the shift toward renewable energy integration. Solar photovoltaic (PV) technology stands out for its scalability, low environmental impact, and suitability for distributed generation.</a:t>
            </a:r>
          </a:p>
          <a:p>
            <a:pPr algn="just">
              <a:lnSpc>
                <a:spcPts val="4059"/>
              </a:lnSpc>
              <a:spcBef>
                <a:spcPct val="0"/>
              </a:spcBef>
            </a:pPr>
            <a:r>
              <a:rPr lang="en-US" sz="2899">
                <a:solidFill>
                  <a:srgbClr val="0E4714"/>
                </a:solidFill>
                <a:latin typeface="Gotham"/>
                <a:ea typeface="Gotham"/>
                <a:cs typeface="Gotham"/>
                <a:sym typeface="Gotham"/>
              </a:rPr>
              <a:t>In the conventional setup, households depend entirely on the electricity board (EB), leading to inefficiencies during peak demand, while surplus solar energy in some homes often goes unused. This project proposes a peer-to-peer (P2P) power-sharing system between two houses—House A, with solar PV generation, and House B, reliant solely on EB supply. When House B’s demand exceeds EB capacity, it procures surplus power from House A.</a:t>
            </a:r>
          </a:p>
          <a:p>
            <a:pPr algn="just">
              <a:lnSpc>
                <a:spcPts val="4059"/>
              </a:lnSpc>
              <a:spcBef>
                <a:spcPct val="0"/>
              </a:spcBef>
            </a:pPr>
            <a:r>
              <a:rPr lang="en-US" sz="2899">
                <a:solidFill>
                  <a:srgbClr val="0E4714"/>
                </a:solidFill>
                <a:latin typeface="Gotham"/>
                <a:ea typeface="Gotham"/>
                <a:cs typeface="Gotham"/>
                <a:sym typeface="Gotham"/>
              </a:rPr>
              <a:t>This arrangement simulates a localized microgrid, aiming to improve energy utilization, reduce grid dependency, and demonstrate the technical and economic viability of small-scale decentralized power trading.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Freeform 2" id="2"/>
          <p:cNvSpPr/>
          <p:nvPr/>
        </p:nvSpPr>
        <p:spPr>
          <a:xfrm flipH="false" flipV="false" rot="0">
            <a:off x="308396" y="2263023"/>
            <a:ext cx="17736389" cy="7604477"/>
          </a:xfrm>
          <a:custGeom>
            <a:avLst/>
            <a:gdLst/>
            <a:ahLst/>
            <a:cxnLst/>
            <a:rect r="r" b="b" t="t" l="l"/>
            <a:pathLst>
              <a:path h="7604477" w="17736389">
                <a:moveTo>
                  <a:pt x="0" y="0"/>
                </a:moveTo>
                <a:lnTo>
                  <a:pt x="17736389" y="0"/>
                </a:lnTo>
                <a:lnTo>
                  <a:pt x="17736389" y="7604477"/>
                </a:lnTo>
                <a:lnTo>
                  <a:pt x="0" y="7604477"/>
                </a:lnTo>
                <a:lnTo>
                  <a:pt x="0" y="0"/>
                </a:lnTo>
                <a:close/>
              </a:path>
            </a:pathLst>
          </a:custGeom>
          <a:blipFill>
            <a:blip r:embed="rId2"/>
            <a:stretch>
              <a:fillRect l="0" t="0" r="0" b="0"/>
            </a:stretch>
          </a:blipFill>
        </p:spPr>
      </p:sp>
      <p:sp>
        <p:nvSpPr>
          <p:cNvPr name="TextBox 3" id="3"/>
          <p:cNvSpPr txBox="true"/>
          <p:nvPr/>
        </p:nvSpPr>
        <p:spPr>
          <a:xfrm rot="0">
            <a:off x="468863" y="587252"/>
            <a:ext cx="16230600" cy="1522967"/>
          </a:xfrm>
          <a:prstGeom prst="rect">
            <a:avLst/>
          </a:prstGeom>
        </p:spPr>
        <p:txBody>
          <a:bodyPr anchor="t" rtlCol="false" tIns="0" lIns="0" bIns="0" rIns="0">
            <a:spAutoFit/>
          </a:bodyPr>
          <a:lstStyle/>
          <a:p>
            <a:pPr algn="l">
              <a:lnSpc>
                <a:spcPts val="9469"/>
              </a:lnSpc>
            </a:pPr>
            <a:r>
              <a:rPr lang="en-US" sz="10884" spc="-272">
                <a:solidFill>
                  <a:srgbClr val="0E4714"/>
                </a:solidFill>
                <a:latin typeface="Times New Roman Condensed"/>
                <a:ea typeface="Times New Roman Condensed"/>
                <a:cs typeface="Times New Roman Condensed"/>
                <a:sym typeface="Times New Roman Condensed"/>
              </a:rPr>
              <a:t>BLOCK DIAGRAM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1162050"/>
            <a:ext cx="14423006" cy="1522967"/>
          </a:xfrm>
          <a:prstGeom prst="rect">
            <a:avLst/>
          </a:prstGeom>
        </p:spPr>
        <p:txBody>
          <a:bodyPr anchor="t" rtlCol="false" tIns="0" lIns="0" bIns="0" rIns="0">
            <a:spAutoFit/>
          </a:bodyPr>
          <a:lstStyle/>
          <a:p>
            <a:pPr algn="l">
              <a:lnSpc>
                <a:spcPts val="9469"/>
              </a:lnSpc>
            </a:pPr>
            <a:r>
              <a:rPr lang="en-US" sz="10884" spc="-272">
                <a:solidFill>
                  <a:srgbClr val="0E4714"/>
                </a:solidFill>
                <a:latin typeface="Times New Roman Condensed"/>
                <a:ea typeface="Times New Roman Condensed"/>
                <a:cs typeface="Times New Roman Condensed"/>
                <a:sym typeface="Times New Roman Condensed"/>
              </a:rPr>
              <a:t>PPROPOSED WORK</a:t>
            </a:r>
          </a:p>
        </p:txBody>
      </p:sp>
      <p:sp>
        <p:nvSpPr>
          <p:cNvPr name="Freeform 3" id="3"/>
          <p:cNvSpPr/>
          <p:nvPr/>
        </p:nvSpPr>
        <p:spPr>
          <a:xfrm flipH="true" flipV="false" rot="0">
            <a:off x="10672254" y="-838551"/>
            <a:ext cx="28550447" cy="11313545"/>
          </a:xfrm>
          <a:custGeom>
            <a:avLst/>
            <a:gdLst/>
            <a:ahLst/>
            <a:cxnLst/>
            <a:rect r="r" b="b" t="t" l="l"/>
            <a:pathLst>
              <a:path h="11313545" w="28550447">
                <a:moveTo>
                  <a:pt x="28550447" y="0"/>
                </a:moveTo>
                <a:lnTo>
                  <a:pt x="0" y="0"/>
                </a:lnTo>
                <a:lnTo>
                  <a:pt x="0" y="11313546"/>
                </a:lnTo>
                <a:lnTo>
                  <a:pt x="28550447" y="11313546"/>
                </a:lnTo>
                <a:lnTo>
                  <a:pt x="28550447" y="0"/>
                </a:lnTo>
                <a:close/>
              </a:path>
            </a:pathLst>
          </a:custGeom>
          <a:blipFill>
            <a:blip r:embed="rId2">
              <a:extLst>
                <a:ext uri="{96DAC541-7B7A-43D3-8B79-37D633B846F1}">
                  <asvg:svgBlip xmlns:asvg="http://schemas.microsoft.com/office/drawing/2016/SVG/main" r:embed="rId3"/>
                </a:ext>
              </a:extLst>
            </a:blip>
            <a:stretch>
              <a:fillRect l="0" t="-49969" r="0" b="-59256"/>
            </a:stretch>
          </a:blipFill>
        </p:spPr>
      </p:sp>
      <p:sp>
        <p:nvSpPr>
          <p:cNvPr name="TextBox 4" id="4"/>
          <p:cNvSpPr txBox="true"/>
          <p:nvPr/>
        </p:nvSpPr>
        <p:spPr>
          <a:xfrm rot="0">
            <a:off x="164332" y="4291761"/>
            <a:ext cx="17094968" cy="4946650"/>
          </a:xfrm>
          <a:prstGeom prst="rect">
            <a:avLst/>
          </a:prstGeom>
        </p:spPr>
        <p:txBody>
          <a:bodyPr anchor="t" rtlCol="false" tIns="0" lIns="0" bIns="0" rIns="0">
            <a:spAutoFit/>
          </a:bodyPr>
          <a:lstStyle/>
          <a:p>
            <a:pPr algn="l" marL="971553" indent="-485777" lvl="1">
              <a:lnSpc>
                <a:spcPts val="6300"/>
              </a:lnSpc>
              <a:buFont typeface="Arial"/>
              <a:buChar char="•"/>
            </a:pPr>
            <a:r>
              <a:rPr lang="en-US" sz="4500" spc="-112">
                <a:solidFill>
                  <a:srgbClr val="0E4714"/>
                </a:solidFill>
                <a:latin typeface="Times New Roman Condensed"/>
                <a:ea typeface="Times New Roman Condensed"/>
                <a:cs typeface="Times New Roman Condensed"/>
                <a:sym typeface="Times New Roman Condensed"/>
              </a:rPr>
              <a:t>WORKING SCALED-DOWN HARDWARE PROTOTYPE WITH FUNCTIONAL P2P SHARING.</a:t>
            </a:r>
          </a:p>
          <a:p>
            <a:pPr algn="l" marL="971553" indent="-485777" lvl="1">
              <a:lnSpc>
                <a:spcPts val="6300"/>
              </a:lnSpc>
              <a:buFont typeface="Arial"/>
              <a:buChar char="•"/>
            </a:pPr>
            <a:r>
              <a:rPr lang="en-US" sz="4500" spc="-112">
                <a:solidFill>
                  <a:srgbClr val="0E4714"/>
                </a:solidFill>
                <a:latin typeface="Times New Roman Condensed"/>
                <a:ea typeface="Times New Roman Condensed"/>
                <a:cs typeface="Times New Roman Condensed"/>
                <a:sym typeface="Times New Roman Condensed"/>
              </a:rPr>
              <a:t>CIRCUIT DIAGRAM AND WIRING LAYOUT.</a:t>
            </a:r>
          </a:p>
          <a:p>
            <a:pPr algn="l" marL="971553" indent="-485777" lvl="1">
              <a:lnSpc>
                <a:spcPts val="6300"/>
              </a:lnSpc>
              <a:buFont typeface="Arial"/>
              <a:buChar char="•"/>
            </a:pPr>
            <a:r>
              <a:rPr lang="en-US" sz="4500" spc="-112">
                <a:solidFill>
                  <a:srgbClr val="0E4714"/>
                </a:solidFill>
                <a:latin typeface="Times New Roman Condensed"/>
                <a:ea typeface="Times New Roman Condensed"/>
                <a:cs typeface="Times New Roman Condensed"/>
                <a:sym typeface="Times New Roman Condensed"/>
              </a:rPr>
              <a:t>EMBEDDED CONTROL PROGRAM WITH DOCUMENTED CODE.</a:t>
            </a:r>
          </a:p>
          <a:p>
            <a:pPr algn="l" marL="971553" indent="-485777" lvl="1">
              <a:lnSpc>
                <a:spcPts val="6300"/>
              </a:lnSpc>
              <a:buFont typeface="Arial"/>
              <a:buChar char="•"/>
            </a:pPr>
            <a:r>
              <a:rPr lang="en-US" sz="4500" spc="-112">
                <a:solidFill>
                  <a:srgbClr val="0E4714"/>
                </a:solidFill>
                <a:latin typeface="Times New Roman Condensed"/>
                <a:ea typeface="Times New Roman Condensed"/>
                <a:cs typeface="Times New Roman Condensed"/>
                <a:sym typeface="Times New Roman Condensed"/>
              </a:rPr>
              <a:t>DATA LOGS SHOWING REAL-TIME ENERGY SHARING BEHAVIOR.</a:t>
            </a:r>
          </a:p>
          <a:p>
            <a:pPr algn="l">
              <a:lnSpc>
                <a:spcPts val="7000"/>
              </a:lnSpc>
            </a:pPr>
          </a:p>
        </p:txBody>
      </p:sp>
      <p:sp>
        <p:nvSpPr>
          <p:cNvPr name="TextBox 5" id="5"/>
          <p:cNvSpPr txBox="true"/>
          <p:nvPr/>
        </p:nvSpPr>
        <p:spPr>
          <a:xfrm rot="0">
            <a:off x="1052691" y="2738974"/>
            <a:ext cx="12016860" cy="887095"/>
          </a:xfrm>
          <a:prstGeom prst="rect">
            <a:avLst/>
          </a:prstGeom>
        </p:spPr>
        <p:txBody>
          <a:bodyPr anchor="t" rtlCol="false" tIns="0" lIns="0" bIns="0" rIns="0">
            <a:spAutoFit/>
          </a:bodyPr>
          <a:lstStyle/>
          <a:p>
            <a:pPr algn="ctr">
              <a:lnSpc>
                <a:spcPts val="7279"/>
              </a:lnSpc>
            </a:pPr>
            <a:r>
              <a:rPr lang="en-US" sz="5199" b="true">
                <a:solidFill>
                  <a:srgbClr val="0E4714"/>
                </a:solidFill>
                <a:latin typeface="Canva Sans Bold"/>
                <a:ea typeface="Canva Sans Bold"/>
                <a:cs typeface="Canva Sans Bold"/>
                <a:sym typeface="Canva Sans Bold"/>
              </a:rPr>
              <a:t>(PRACTICAL IMPEMENTATION  PLAN)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1412234"/>
            <a:ext cx="16230600" cy="1143139"/>
          </a:xfrm>
          <a:prstGeom prst="rect">
            <a:avLst/>
          </a:prstGeom>
        </p:spPr>
        <p:txBody>
          <a:bodyPr anchor="t" rtlCol="false" tIns="0" lIns="0" bIns="0" rIns="0">
            <a:spAutoFit/>
          </a:bodyPr>
          <a:lstStyle/>
          <a:p>
            <a:pPr algn="l">
              <a:lnSpc>
                <a:spcPts val="7121"/>
              </a:lnSpc>
            </a:pPr>
            <a:r>
              <a:rPr lang="en-US" sz="8185" spc="-204">
                <a:solidFill>
                  <a:srgbClr val="0E4714"/>
                </a:solidFill>
                <a:latin typeface="Times New Roman Condensed"/>
                <a:ea typeface="Times New Roman Condensed"/>
                <a:cs typeface="Times New Roman Condensed"/>
                <a:sym typeface="Times New Roman Condensed"/>
              </a:rPr>
              <a:t>DETAILED PLAN OF ACTION</a:t>
            </a:r>
          </a:p>
        </p:txBody>
      </p:sp>
      <p:sp>
        <p:nvSpPr>
          <p:cNvPr name="Freeform 3" id="3"/>
          <p:cNvSpPr/>
          <p:nvPr/>
        </p:nvSpPr>
        <p:spPr>
          <a:xfrm flipH="false" flipV="false" rot="0">
            <a:off x="12220377" y="-1063244"/>
            <a:ext cx="8434028" cy="6114306"/>
          </a:xfrm>
          <a:custGeom>
            <a:avLst/>
            <a:gdLst/>
            <a:ahLst/>
            <a:cxnLst/>
            <a:rect r="r" b="b" t="t" l="l"/>
            <a:pathLst>
              <a:path h="6114306" w="8434028">
                <a:moveTo>
                  <a:pt x="0" y="0"/>
                </a:moveTo>
                <a:lnTo>
                  <a:pt x="8434028" y="0"/>
                </a:lnTo>
                <a:lnTo>
                  <a:pt x="8434028" y="6114305"/>
                </a:lnTo>
                <a:lnTo>
                  <a:pt x="0" y="6114305"/>
                </a:lnTo>
                <a:lnTo>
                  <a:pt x="0" y="0"/>
                </a:lnTo>
                <a:close/>
              </a:path>
            </a:pathLst>
          </a:custGeom>
          <a:blipFill>
            <a:blip r:embed="rId2">
              <a:extLst>
                <a:ext uri="{96DAC541-7B7A-43D3-8B79-37D633B846F1}">
                  <asvg:svgBlip xmlns:asvg="http://schemas.microsoft.com/office/drawing/2016/SVG/main" r:embed="rId3"/>
                </a:ext>
              </a:extLst>
            </a:blip>
            <a:stretch>
              <a:fillRect l="0" t="-93483" r="-128662" b="-52540"/>
            </a:stretch>
          </a:blipFill>
        </p:spPr>
      </p:sp>
      <p:sp>
        <p:nvSpPr>
          <p:cNvPr name="TextBox 4" id="4"/>
          <p:cNvSpPr txBox="true"/>
          <p:nvPr/>
        </p:nvSpPr>
        <p:spPr>
          <a:xfrm rot="0">
            <a:off x="1028700" y="2380040"/>
            <a:ext cx="16403919" cy="8222616"/>
          </a:xfrm>
          <a:prstGeom prst="rect">
            <a:avLst/>
          </a:prstGeom>
        </p:spPr>
        <p:txBody>
          <a:bodyPr anchor="t" rtlCol="false" tIns="0" lIns="0" bIns="0" rIns="0">
            <a:spAutoFit/>
          </a:bodyPr>
          <a:lstStyle/>
          <a:p>
            <a:pPr algn="just">
              <a:lnSpc>
                <a:spcPts val="4059"/>
              </a:lnSpc>
            </a:pPr>
            <a:r>
              <a:rPr lang="en-US" sz="2899">
                <a:solidFill>
                  <a:srgbClr val="0E4714"/>
                </a:solidFill>
                <a:latin typeface="Gotham"/>
                <a:ea typeface="Gotham"/>
                <a:cs typeface="Gotham"/>
                <a:sym typeface="Gotham"/>
              </a:rPr>
              <a:t>The work will be executed in three main stages:</a:t>
            </a:r>
          </a:p>
          <a:p>
            <a:pPr algn="just">
              <a:lnSpc>
                <a:spcPts val="4059"/>
              </a:lnSpc>
            </a:pPr>
          </a:p>
          <a:p>
            <a:pPr algn="just">
              <a:lnSpc>
                <a:spcPts val="4059"/>
              </a:lnSpc>
            </a:pPr>
            <a:r>
              <a:rPr lang="en-US" sz="2899">
                <a:solidFill>
                  <a:srgbClr val="0E4714"/>
                </a:solidFill>
                <a:latin typeface="Gotham"/>
                <a:ea typeface="Gotham"/>
                <a:cs typeface="Gotham"/>
                <a:sym typeface="Gotham"/>
              </a:rPr>
              <a:t>1. </a:t>
            </a:r>
            <a:r>
              <a:rPr lang="en-US" b="true" sz="2899" u="sng">
                <a:solidFill>
                  <a:srgbClr val="0E4714"/>
                </a:solidFill>
                <a:latin typeface="Gotham Bold"/>
                <a:ea typeface="Gotham Bold"/>
                <a:cs typeface="Gotham Bold"/>
                <a:sym typeface="Gotham Bold"/>
              </a:rPr>
              <a:t>System Planning &amp; Component Selection</a:t>
            </a:r>
          </a:p>
          <a:p>
            <a:pPr algn="just">
              <a:lnSpc>
                <a:spcPts val="4059"/>
              </a:lnSpc>
            </a:pPr>
          </a:p>
          <a:p>
            <a:pPr algn="just" marL="626104" indent="-313052" lvl="1">
              <a:lnSpc>
                <a:spcPts val="4059"/>
              </a:lnSpc>
              <a:buFont typeface="Arial"/>
              <a:buChar char="•"/>
            </a:pPr>
            <a:r>
              <a:rPr lang="en-US" sz="2899">
                <a:solidFill>
                  <a:srgbClr val="0E4714"/>
                </a:solidFill>
                <a:latin typeface="Gotham"/>
                <a:ea typeface="Gotham"/>
                <a:cs typeface="Gotham"/>
                <a:sym typeface="Gotham"/>
              </a:rPr>
              <a:t>Identify and procure appropriate components for a small-scale demonstration:</a:t>
            </a:r>
          </a:p>
          <a:p>
            <a:pPr algn="just" marL="1252208" indent="-417403" lvl="2">
              <a:lnSpc>
                <a:spcPts val="4059"/>
              </a:lnSpc>
              <a:buFont typeface="Arial"/>
              <a:buChar char="⚬"/>
            </a:pPr>
            <a:r>
              <a:rPr lang="en-US" sz="2899">
                <a:solidFill>
                  <a:srgbClr val="0E4714"/>
                </a:solidFill>
                <a:latin typeface="Gotham"/>
                <a:ea typeface="Gotham"/>
                <a:cs typeface="Gotham"/>
                <a:sym typeface="Gotham"/>
              </a:rPr>
              <a:t>Miniature solar PV panel(s) for House A’s renewable source.</a:t>
            </a:r>
          </a:p>
          <a:p>
            <a:pPr algn="just" marL="1252208" indent="-417403" lvl="2">
              <a:lnSpc>
                <a:spcPts val="4059"/>
              </a:lnSpc>
              <a:buFont typeface="Arial"/>
              <a:buChar char="⚬"/>
            </a:pPr>
            <a:r>
              <a:rPr lang="en-US" sz="2899">
                <a:solidFill>
                  <a:srgbClr val="0E4714"/>
                </a:solidFill>
                <a:latin typeface="Gotham"/>
                <a:ea typeface="Gotham"/>
                <a:cs typeface="Gotham"/>
                <a:sym typeface="Gotham"/>
              </a:rPr>
              <a:t>DC supply module or low-voltage AC source for simulating EB power.</a:t>
            </a:r>
          </a:p>
          <a:p>
            <a:pPr algn="just" marL="1252208" indent="-417403" lvl="2">
              <a:lnSpc>
                <a:spcPts val="4059"/>
              </a:lnSpc>
              <a:buFont typeface="Arial"/>
              <a:buChar char="⚬"/>
            </a:pPr>
            <a:r>
              <a:rPr lang="en-US" sz="2899">
                <a:solidFill>
                  <a:srgbClr val="0E4714"/>
                </a:solidFill>
                <a:latin typeface="Gotham"/>
                <a:ea typeface="Gotham"/>
                <a:cs typeface="Gotham"/>
                <a:sym typeface="Gotham"/>
              </a:rPr>
              <a:t>Loads for both houses (e.g., resistive lamps, small appliances, or equivalent resistive modules).</a:t>
            </a:r>
          </a:p>
          <a:p>
            <a:pPr algn="just" marL="1252208" indent="-417403" lvl="2">
              <a:lnSpc>
                <a:spcPts val="4059"/>
              </a:lnSpc>
              <a:buFont typeface="Arial"/>
              <a:buChar char="⚬"/>
            </a:pPr>
            <a:r>
              <a:rPr lang="en-US" sz="2899">
                <a:solidFill>
                  <a:srgbClr val="0E4714"/>
                </a:solidFill>
                <a:latin typeface="Gotham"/>
                <a:ea typeface="Gotham"/>
                <a:cs typeface="Gotham"/>
                <a:sym typeface="Gotham"/>
              </a:rPr>
              <a:t>Energy meters or wattmeters to measure consumption and transfer.</a:t>
            </a:r>
          </a:p>
          <a:p>
            <a:pPr algn="just" marL="1252208" indent="-417403" lvl="2">
              <a:lnSpc>
                <a:spcPts val="4059"/>
              </a:lnSpc>
              <a:buFont typeface="Arial"/>
              <a:buChar char="⚬"/>
            </a:pPr>
            <a:r>
              <a:rPr lang="en-US" sz="2899">
                <a:solidFill>
                  <a:srgbClr val="0E4714"/>
                </a:solidFill>
                <a:latin typeface="Gotham"/>
                <a:ea typeface="Gotham"/>
                <a:cs typeface="Gotham"/>
                <a:sym typeface="Gotham"/>
              </a:rPr>
              <a:t>Microcontroller (Arduino / Raspberry Pi / PIC) for control logic implementation.</a:t>
            </a:r>
          </a:p>
          <a:p>
            <a:pPr algn="just" marL="1252208" indent="-417403" lvl="2">
              <a:lnSpc>
                <a:spcPts val="4059"/>
              </a:lnSpc>
              <a:buFont typeface="Arial"/>
              <a:buChar char="⚬"/>
            </a:pPr>
            <a:r>
              <a:rPr lang="en-US" sz="2899">
                <a:solidFill>
                  <a:srgbClr val="0E4714"/>
                </a:solidFill>
                <a:latin typeface="Gotham"/>
                <a:ea typeface="Gotham"/>
                <a:cs typeface="Gotham"/>
                <a:sym typeface="Gotham"/>
              </a:rPr>
              <a:t>Relays or solid-state switches for power routing.</a:t>
            </a:r>
          </a:p>
          <a:p>
            <a:pPr algn="just" marL="1252208" indent="-417403" lvl="2">
              <a:lnSpc>
                <a:spcPts val="4059"/>
              </a:lnSpc>
              <a:buFont typeface="Arial"/>
              <a:buChar char="⚬"/>
            </a:pPr>
            <a:r>
              <a:rPr lang="en-US" sz="2899">
                <a:solidFill>
                  <a:srgbClr val="0E4714"/>
                </a:solidFill>
                <a:latin typeface="Gotham"/>
                <a:ea typeface="Gotham"/>
                <a:cs typeface="Gotham"/>
                <a:sym typeface="Gotham"/>
              </a:rPr>
              <a:t>Current and voltage sensors for monitoring conditions.</a:t>
            </a:r>
          </a:p>
          <a:p>
            <a:pPr algn="just" marL="626104" indent="-313052" lvl="1">
              <a:lnSpc>
                <a:spcPts val="4059"/>
              </a:lnSpc>
              <a:buFont typeface="Arial"/>
              <a:buChar char="•"/>
            </a:pPr>
            <a:r>
              <a:rPr lang="en-US" sz="2899">
                <a:solidFill>
                  <a:srgbClr val="0E4714"/>
                </a:solidFill>
                <a:latin typeface="Gotham"/>
                <a:ea typeface="Gotham"/>
                <a:cs typeface="Gotham"/>
                <a:sym typeface="Gotham"/>
              </a:rPr>
              <a:t>Prepare wiring diagrams showing all connections between EB supply, PV supply, and both houses.</a:t>
            </a:r>
          </a:p>
          <a:p>
            <a:pPr algn="just">
              <a:lnSpc>
                <a:spcPts val="405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1412234"/>
            <a:ext cx="16230600" cy="1143139"/>
          </a:xfrm>
          <a:prstGeom prst="rect">
            <a:avLst/>
          </a:prstGeom>
        </p:spPr>
        <p:txBody>
          <a:bodyPr anchor="t" rtlCol="false" tIns="0" lIns="0" bIns="0" rIns="0">
            <a:spAutoFit/>
          </a:bodyPr>
          <a:lstStyle/>
          <a:p>
            <a:pPr algn="l">
              <a:lnSpc>
                <a:spcPts val="7121"/>
              </a:lnSpc>
            </a:pPr>
            <a:r>
              <a:rPr lang="en-US" sz="8185" spc="-204">
                <a:solidFill>
                  <a:srgbClr val="0E4714"/>
                </a:solidFill>
                <a:latin typeface="Times New Roman Condensed"/>
                <a:ea typeface="Times New Roman Condensed"/>
                <a:cs typeface="Times New Roman Condensed"/>
                <a:sym typeface="Times New Roman Condensed"/>
              </a:rPr>
              <a:t>DETAILED PLAN OF ACTION</a:t>
            </a:r>
          </a:p>
        </p:txBody>
      </p:sp>
      <p:sp>
        <p:nvSpPr>
          <p:cNvPr name="Freeform 3" id="3"/>
          <p:cNvSpPr/>
          <p:nvPr/>
        </p:nvSpPr>
        <p:spPr>
          <a:xfrm flipH="false" flipV="false" rot="0">
            <a:off x="12210852" y="-1063244"/>
            <a:ext cx="8434028" cy="6114306"/>
          </a:xfrm>
          <a:custGeom>
            <a:avLst/>
            <a:gdLst/>
            <a:ahLst/>
            <a:cxnLst/>
            <a:rect r="r" b="b" t="t" l="l"/>
            <a:pathLst>
              <a:path h="6114306" w="8434028">
                <a:moveTo>
                  <a:pt x="0" y="0"/>
                </a:moveTo>
                <a:lnTo>
                  <a:pt x="8434028" y="0"/>
                </a:lnTo>
                <a:lnTo>
                  <a:pt x="8434028" y="6114305"/>
                </a:lnTo>
                <a:lnTo>
                  <a:pt x="0" y="6114305"/>
                </a:lnTo>
                <a:lnTo>
                  <a:pt x="0" y="0"/>
                </a:lnTo>
                <a:close/>
              </a:path>
            </a:pathLst>
          </a:custGeom>
          <a:blipFill>
            <a:blip r:embed="rId2">
              <a:extLst>
                <a:ext uri="{96DAC541-7B7A-43D3-8B79-37D633B846F1}">
                  <asvg:svgBlip xmlns:asvg="http://schemas.microsoft.com/office/drawing/2016/SVG/main" r:embed="rId3"/>
                </a:ext>
              </a:extLst>
            </a:blip>
            <a:stretch>
              <a:fillRect l="0" t="-93483" r="-128662" b="-52540"/>
            </a:stretch>
          </a:blipFill>
        </p:spPr>
      </p:sp>
      <p:sp>
        <p:nvSpPr>
          <p:cNvPr name="TextBox 4" id="4"/>
          <p:cNvSpPr txBox="true"/>
          <p:nvPr/>
        </p:nvSpPr>
        <p:spPr>
          <a:xfrm rot="0">
            <a:off x="942041" y="2824775"/>
            <a:ext cx="16403919" cy="6165216"/>
          </a:xfrm>
          <a:prstGeom prst="rect">
            <a:avLst/>
          </a:prstGeom>
        </p:spPr>
        <p:txBody>
          <a:bodyPr anchor="t" rtlCol="false" tIns="0" lIns="0" bIns="0" rIns="0">
            <a:spAutoFit/>
          </a:bodyPr>
          <a:lstStyle/>
          <a:p>
            <a:pPr algn="just">
              <a:lnSpc>
                <a:spcPts val="4059"/>
              </a:lnSpc>
            </a:pPr>
            <a:r>
              <a:rPr lang="en-US" sz="2899">
                <a:solidFill>
                  <a:srgbClr val="0E4714"/>
                </a:solidFill>
                <a:latin typeface="Gotham"/>
                <a:ea typeface="Gotham"/>
                <a:cs typeface="Gotham"/>
                <a:sym typeface="Gotham"/>
              </a:rPr>
              <a:t>2.</a:t>
            </a:r>
            <a:r>
              <a:rPr lang="en-US" b="true" sz="2899" u="sng">
                <a:solidFill>
                  <a:srgbClr val="0E4714"/>
                </a:solidFill>
                <a:latin typeface="Gotham Bold"/>
                <a:ea typeface="Gotham Bold"/>
                <a:cs typeface="Gotham Bold"/>
                <a:sym typeface="Gotham Bold"/>
              </a:rPr>
              <a:t> Hardware Construction &amp; Control Logic</a:t>
            </a:r>
          </a:p>
          <a:p>
            <a:pPr algn="just">
              <a:lnSpc>
                <a:spcPts val="4059"/>
              </a:lnSpc>
            </a:pPr>
          </a:p>
          <a:p>
            <a:pPr algn="just" marL="626104" indent="-313052" lvl="1">
              <a:lnSpc>
                <a:spcPts val="4059"/>
              </a:lnSpc>
              <a:buFont typeface="Arial"/>
              <a:buChar char="•"/>
            </a:pPr>
            <a:r>
              <a:rPr lang="en-US" sz="2899">
                <a:solidFill>
                  <a:srgbClr val="0E4714"/>
                </a:solidFill>
                <a:latin typeface="Gotham"/>
                <a:ea typeface="Gotham"/>
                <a:cs typeface="Gotham"/>
                <a:sym typeface="Gotham"/>
              </a:rPr>
              <a:t>Assemble two independent load circuits to represent Houses A and B.</a:t>
            </a:r>
          </a:p>
          <a:p>
            <a:pPr algn="just" marL="626104" indent="-313052" lvl="1">
              <a:lnSpc>
                <a:spcPts val="4059"/>
              </a:lnSpc>
              <a:buFont typeface="Arial"/>
              <a:buChar char="•"/>
            </a:pPr>
            <a:r>
              <a:rPr lang="en-US" sz="2899">
                <a:solidFill>
                  <a:srgbClr val="0E4714"/>
                </a:solidFill>
                <a:latin typeface="Gotham"/>
                <a:ea typeface="Gotham"/>
                <a:cs typeface="Gotham"/>
                <a:sym typeface="Gotham"/>
              </a:rPr>
              <a:t>Integrate the solar PV panel into House A’s supply side.</a:t>
            </a:r>
          </a:p>
          <a:p>
            <a:pPr algn="just" marL="626104" indent="-313052" lvl="1">
              <a:lnSpc>
                <a:spcPts val="4059"/>
              </a:lnSpc>
              <a:buFont typeface="Arial"/>
              <a:buChar char="•"/>
            </a:pPr>
            <a:r>
              <a:rPr lang="en-US" sz="2899">
                <a:solidFill>
                  <a:srgbClr val="0E4714"/>
                </a:solidFill>
                <a:latin typeface="Gotham"/>
                <a:ea typeface="Gotham"/>
                <a:cs typeface="Gotham"/>
                <a:sym typeface="Gotham"/>
              </a:rPr>
              <a:t>Connect EB supply to both houses through appropriate control relays.</a:t>
            </a:r>
          </a:p>
          <a:p>
            <a:pPr algn="just" marL="626104" indent="-313052" lvl="1">
              <a:lnSpc>
                <a:spcPts val="4059"/>
              </a:lnSpc>
              <a:buFont typeface="Arial"/>
              <a:buChar char="•"/>
            </a:pPr>
            <a:r>
              <a:rPr lang="en-US" sz="2899">
                <a:solidFill>
                  <a:srgbClr val="0E4714"/>
                </a:solidFill>
                <a:latin typeface="Gotham"/>
                <a:ea typeface="Gotham"/>
                <a:cs typeface="Gotham"/>
                <a:sym typeface="Gotham"/>
              </a:rPr>
              <a:t>Install metering at:</a:t>
            </a:r>
          </a:p>
          <a:p>
            <a:pPr algn="just" marL="1252208" indent="-417403" lvl="2">
              <a:lnSpc>
                <a:spcPts val="4059"/>
              </a:lnSpc>
              <a:buAutoNum type="alphaLcPeriod" startAt="1"/>
            </a:pPr>
            <a:r>
              <a:rPr lang="en-US" sz="2899">
                <a:solidFill>
                  <a:srgbClr val="0E4714"/>
                </a:solidFill>
                <a:latin typeface="Gotham"/>
                <a:ea typeface="Gotham"/>
                <a:cs typeface="Gotham"/>
                <a:sym typeface="Gotham"/>
              </a:rPr>
              <a:t>EB supply to House A and House B.</a:t>
            </a:r>
          </a:p>
          <a:p>
            <a:pPr algn="just" marL="1252208" indent="-417403" lvl="2">
              <a:lnSpc>
                <a:spcPts val="4059"/>
              </a:lnSpc>
              <a:buAutoNum type="alphaLcPeriod" startAt="1"/>
            </a:pPr>
            <a:r>
              <a:rPr lang="en-US" sz="2899">
                <a:solidFill>
                  <a:srgbClr val="0E4714"/>
                </a:solidFill>
                <a:latin typeface="Gotham"/>
                <a:ea typeface="Gotham"/>
                <a:cs typeface="Gotham"/>
                <a:sym typeface="Gotham"/>
              </a:rPr>
              <a:t>Solar PV power output from House A.</a:t>
            </a:r>
          </a:p>
          <a:p>
            <a:pPr algn="just" marL="1252208" indent="-417403" lvl="2">
              <a:lnSpc>
                <a:spcPts val="4059"/>
              </a:lnSpc>
              <a:buAutoNum type="alphaLcPeriod" startAt="1"/>
            </a:pPr>
            <a:r>
              <a:rPr lang="en-US" sz="2899">
                <a:solidFill>
                  <a:srgbClr val="0E4714"/>
                </a:solidFill>
                <a:latin typeface="Gotham"/>
                <a:ea typeface="Gotham"/>
                <a:cs typeface="Gotham"/>
                <a:sym typeface="Gotham"/>
              </a:rPr>
              <a:t>Power transferred between House A and House B.</a:t>
            </a:r>
          </a:p>
          <a:p>
            <a:pPr algn="just" marL="626104" indent="-313052" lvl="1">
              <a:lnSpc>
                <a:spcPts val="4059"/>
              </a:lnSpc>
              <a:buFont typeface="Arial"/>
              <a:buChar char="•"/>
            </a:pPr>
            <a:r>
              <a:rPr lang="en-US" sz="2899">
                <a:solidFill>
                  <a:srgbClr val="0E4714"/>
                </a:solidFill>
                <a:latin typeface="Gotham"/>
                <a:ea typeface="Gotham"/>
                <a:cs typeface="Gotham"/>
                <a:sym typeface="Gotham"/>
              </a:rPr>
              <a:t>Develop microcontroller code to:</a:t>
            </a:r>
          </a:p>
          <a:p>
            <a:pPr algn="just" marL="1252208" indent="-417403" lvl="2">
              <a:lnSpc>
                <a:spcPts val="4059"/>
              </a:lnSpc>
              <a:buFont typeface="Arial"/>
              <a:buChar char="⚬"/>
            </a:pPr>
            <a:r>
              <a:rPr lang="en-US" sz="2899">
                <a:solidFill>
                  <a:srgbClr val="0E4714"/>
                </a:solidFill>
                <a:latin typeface="Gotham"/>
                <a:ea typeface="Gotham"/>
                <a:cs typeface="Gotham"/>
                <a:sym typeface="Gotham"/>
              </a:rPr>
              <a:t>Monitor House B’s load demand.</a:t>
            </a:r>
          </a:p>
          <a:p>
            <a:pPr algn="just">
              <a:lnSpc>
                <a:spcPts val="4059"/>
              </a:lnSpc>
              <a:spcBef>
                <a:spcPct val="0"/>
              </a:spcBef>
            </a:pPr>
            <a:r>
              <a:rPr lang="en-US" sz="2899">
                <a:solidFill>
                  <a:srgbClr val="0E4714"/>
                </a:solidFill>
                <a:latin typeface="Gotham"/>
                <a:ea typeface="Gotham"/>
                <a:cs typeface="Gotham"/>
                <a:sym typeface="Gotham"/>
              </a:rPr>
              <a:t>Detect House A’s available surplus from the solar panel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1412234"/>
            <a:ext cx="16230600" cy="1143139"/>
          </a:xfrm>
          <a:prstGeom prst="rect">
            <a:avLst/>
          </a:prstGeom>
        </p:spPr>
        <p:txBody>
          <a:bodyPr anchor="t" rtlCol="false" tIns="0" lIns="0" bIns="0" rIns="0">
            <a:spAutoFit/>
          </a:bodyPr>
          <a:lstStyle/>
          <a:p>
            <a:pPr algn="l">
              <a:lnSpc>
                <a:spcPts val="7121"/>
              </a:lnSpc>
            </a:pPr>
            <a:r>
              <a:rPr lang="en-US" sz="8185" spc="-204">
                <a:solidFill>
                  <a:srgbClr val="0E4714"/>
                </a:solidFill>
                <a:latin typeface="Times New Roman Condensed"/>
                <a:ea typeface="Times New Roman Condensed"/>
                <a:cs typeface="Times New Roman Condensed"/>
                <a:sym typeface="Times New Roman Condensed"/>
              </a:rPr>
              <a:t>DETAILED PLAN OF ACTION</a:t>
            </a:r>
          </a:p>
        </p:txBody>
      </p:sp>
      <p:sp>
        <p:nvSpPr>
          <p:cNvPr name="Freeform 3" id="3"/>
          <p:cNvSpPr/>
          <p:nvPr/>
        </p:nvSpPr>
        <p:spPr>
          <a:xfrm flipH="false" flipV="false" rot="0">
            <a:off x="12210852" y="-1063244"/>
            <a:ext cx="8434028" cy="6114306"/>
          </a:xfrm>
          <a:custGeom>
            <a:avLst/>
            <a:gdLst/>
            <a:ahLst/>
            <a:cxnLst/>
            <a:rect r="r" b="b" t="t" l="l"/>
            <a:pathLst>
              <a:path h="6114306" w="8434028">
                <a:moveTo>
                  <a:pt x="0" y="0"/>
                </a:moveTo>
                <a:lnTo>
                  <a:pt x="8434028" y="0"/>
                </a:lnTo>
                <a:lnTo>
                  <a:pt x="8434028" y="6114305"/>
                </a:lnTo>
                <a:lnTo>
                  <a:pt x="0" y="6114305"/>
                </a:lnTo>
                <a:lnTo>
                  <a:pt x="0" y="0"/>
                </a:lnTo>
                <a:close/>
              </a:path>
            </a:pathLst>
          </a:custGeom>
          <a:blipFill>
            <a:blip r:embed="rId2">
              <a:extLst>
                <a:ext uri="{96DAC541-7B7A-43D3-8B79-37D633B846F1}">
                  <asvg:svgBlip xmlns:asvg="http://schemas.microsoft.com/office/drawing/2016/SVG/main" r:embed="rId3"/>
                </a:ext>
              </a:extLst>
            </a:blip>
            <a:stretch>
              <a:fillRect l="0" t="-93483" r="-128662" b="-52540"/>
            </a:stretch>
          </a:blipFill>
        </p:spPr>
      </p:sp>
      <p:sp>
        <p:nvSpPr>
          <p:cNvPr name="TextBox 4" id="4"/>
          <p:cNvSpPr txBox="true"/>
          <p:nvPr/>
        </p:nvSpPr>
        <p:spPr>
          <a:xfrm rot="0">
            <a:off x="942041" y="2824775"/>
            <a:ext cx="16403919" cy="6165216"/>
          </a:xfrm>
          <a:prstGeom prst="rect">
            <a:avLst/>
          </a:prstGeom>
        </p:spPr>
        <p:txBody>
          <a:bodyPr anchor="t" rtlCol="false" tIns="0" lIns="0" bIns="0" rIns="0">
            <a:spAutoFit/>
          </a:bodyPr>
          <a:lstStyle/>
          <a:p>
            <a:pPr algn="just">
              <a:lnSpc>
                <a:spcPts val="4059"/>
              </a:lnSpc>
            </a:pPr>
            <a:r>
              <a:rPr lang="en-US" sz="2899">
                <a:solidFill>
                  <a:srgbClr val="0E4714"/>
                </a:solidFill>
                <a:latin typeface="Gotham"/>
                <a:ea typeface="Gotham"/>
                <a:cs typeface="Gotham"/>
                <a:sym typeface="Gotham"/>
              </a:rPr>
              <a:t>3. </a:t>
            </a:r>
            <a:r>
              <a:rPr lang="en-US" b="true" sz="2899" u="sng">
                <a:solidFill>
                  <a:srgbClr val="0E4714"/>
                </a:solidFill>
                <a:latin typeface="Gotham Bold"/>
                <a:ea typeface="Gotham Bold"/>
                <a:cs typeface="Gotham Bold"/>
                <a:sym typeface="Gotham Bold"/>
              </a:rPr>
              <a:t>Testing &amp; Demonstration</a:t>
            </a:r>
          </a:p>
          <a:p>
            <a:pPr algn="just">
              <a:lnSpc>
                <a:spcPts val="4059"/>
              </a:lnSpc>
            </a:pPr>
          </a:p>
          <a:p>
            <a:pPr algn="just" marL="626104" indent="-313052" lvl="1">
              <a:lnSpc>
                <a:spcPts val="4059"/>
              </a:lnSpc>
              <a:buFont typeface="Arial"/>
              <a:buChar char="•"/>
            </a:pPr>
            <a:r>
              <a:rPr lang="en-US" sz="2899">
                <a:solidFill>
                  <a:srgbClr val="0E4714"/>
                </a:solidFill>
                <a:latin typeface="Gotham"/>
                <a:ea typeface="Gotham"/>
                <a:cs typeface="Gotham"/>
                <a:sym typeface="Gotham"/>
              </a:rPr>
              <a:t>Test under different load conditions:</a:t>
            </a:r>
          </a:p>
          <a:p>
            <a:pPr algn="just" marL="1252208" indent="-417403" lvl="2">
              <a:lnSpc>
                <a:spcPts val="4059"/>
              </a:lnSpc>
              <a:buAutoNum type="alphaLcPeriod" startAt="1"/>
            </a:pPr>
            <a:r>
              <a:rPr lang="en-US" sz="2899">
                <a:solidFill>
                  <a:srgbClr val="0E4714"/>
                </a:solidFill>
                <a:latin typeface="Gotham"/>
                <a:ea typeface="Gotham"/>
                <a:cs typeface="Gotham"/>
                <a:sym typeface="Gotham"/>
              </a:rPr>
              <a:t>Low load (no transfer required).</a:t>
            </a:r>
          </a:p>
          <a:p>
            <a:pPr algn="just" marL="1252208" indent="-417403" lvl="2">
              <a:lnSpc>
                <a:spcPts val="4059"/>
              </a:lnSpc>
              <a:buAutoNum type="alphaLcPeriod" startAt="1"/>
            </a:pPr>
            <a:r>
              <a:rPr lang="en-US" sz="2899">
                <a:solidFill>
                  <a:srgbClr val="0E4714"/>
                </a:solidFill>
                <a:latin typeface="Gotham"/>
                <a:ea typeface="Gotham"/>
                <a:cs typeface="Gotham"/>
                <a:sym typeface="Gotham"/>
              </a:rPr>
              <a:t>High load on House B with available surplus from House A (transfer occurs).</a:t>
            </a:r>
          </a:p>
          <a:p>
            <a:pPr algn="just" marL="1252208" indent="-417403" lvl="2">
              <a:lnSpc>
                <a:spcPts val="4059"/>
              </a:lnSpc>
              <a:buAutoNum type="alphaLcPeriod" startAt="1"/>
            </a:pPr>
            <a:r>
              <a:rPr lang="en-US" sz="2899">
                <a:solidFill>
                  <a:srgbClr val="0E4714"/>
                </a:solidFill>
                <a:latin typeface="Gotham"/>
                <a:ea typeface="Gotham"/>
                <a:cs typeface="Gotham"/>
                <a:sym typeface="Gotham"/>
              </a:rPr>
              <a:t>High load on House B without surplus from House A (fallback to EB only).</a:t>
            </a:r>
          </a:p>
          <a:p>
            <a:pPr algn="just" marL="626104" indent="-313052" lvl="1">
              <a:lnSpc>
                <a:spcPts val="4059"/>
              </a:lnSpc>
              <a:buFont typeface="Arial"/>
              <a:buChar char="•"/>
            </a:pPr>
            <a:r>
              <a:rPr lang="en-US" sz="2899">
                <a:solidFill>
                  <a:srgbClr val="0E4714"/>
                </a:solidFill>
                <a:latin typeface="Gotham"/>
                <a:ea typeface="Gotham"/>
                <a:cs typeface="Gotham"/>
                <a:sym typeface="Gotham"/>
              </a:rPr>
              <a:t>Record the data for:</a:t>
            </a:r>
          </a:p>
          <a:p>
            <a:pPr algn="just" marL="1252208" indent="-417403" lvl="2">
              <a:lnSpc>
                <a:spcPts val="4059"/>
              </a:lnSpc>
              <a:buFont typeface="Arial"/>
              <a:buChar char="⚬"/>
            </a:pPr>
            <a:r>
              <a:rPr lang="en-US" sz="2899">
                <a:solidFill>
                  <a:srgbClr val="0E4714"/>
                </a:solidFill>
                <a:latin typeface="Gotham"/>
                <a:ea typeface="Gotham"/>
                <a:cs typeface="Gotham"/>
                <a:sym typeface="Gotham"/>
              </a:rPr>
              <a:t>Energy supplied by EB.</a:t>
            </a:r>
          </a:p>
          <a:p>
            <a:pPr algn="just" marL="1252208" indent="-417403" lvl="2">
              <a:lnSpc>
                <a:spcPts val="4059"/>
              </a:lnSpc>
              <a:buFont typeface="Arial"/>
              <a:buChar char="⚬"/>
            </a:pPr>
            <a:r>
              <a:rPr lang="en-US" sz="2899">
                <a:solidFill>
                  <a:srgbClr val="0E4714"/>
                </a:solidFill>
                <a:latin typeface="Gotham"/>
                <a:ea typeface="Gotham"/>
                <a:cs typeface="Gotham"/>
                <a:sym typeface="Gotham"/>
              </a:rPr>
              <a:t>Energy supplied from House A to House B.</a:t>
            </a:r>
          </a:p>
          <a:p>
            <a:pPr algn="just" marL="1252208" indent="-417403" lvl="2">
              <a:lnSpc>
                <a:spcPts val="4059"/>
              </a:lnSpc>
              <a:buFont typeface="Arial"/>
              <a:buChar char="⚬"/>
            </a:pPr>
            <a:r>
              <a:rPr lang="en-US" sz="2899">
                <a:solidFill>
                  <a:srgbClr val="0E4714"/>
                </a:solidFill>
                <a:latin typeface="Gotham"/>
                <a:ea typeface="Gotham"/>
                <a:cs typeface="Gotham"/>
                <a:sym typeface="Gotham"/>
              </a:rPr>
              <a:t>Reduction in EB usage for House B during sharing periods.</a:t>
            </a:r>
          </a:p>
          <a:p>
            <a:pPr algn="just">
              <a:lnSpc>
                <a:spcPts val="4059"/>
              </a:lnSpc>
              <a:spcBef>
                <a:spcPct val="0"/>
              </a:spcBef>
            </a:pPr>
            <a:r>
              <a:rPr lang="en-US" sz="2899">
                <a:solidFill>
                  <a:srgbClr val="0E4714"/>
                </a:solidFill>
                <a:latin typeface="Gotham"/>
                <a:ea typeface="Gotham"/>
                <a:cs typeface="Gotham"/>
                <a:sym typeface="Gotham"/>
              </a:rPr>
              <a:t>Document the operational sequence and demonstrate live to show automatic decision-making and sharing</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1450334"/>
            <a:ext cx="16230600" cy="1522967"/>
          </a:xfrm>
          <a:prstGeom prst="rect">
            <a:avLst/>
          </a:prstGeom>
        </p:spPr>
        <p:txBody>
          <a:bodyPr anchor="t" rtlCol="false" tIns="0" lIns="0" bIns="0" rIns="0">
            <a:spAutoFit/>
          </a:bodyPr>
          <a:lstStyle/>
          <a:p>
            <a:pPr algn="l">
              <a:lnSpc>
                <a:spcPts val="9469"/>
              </a:lnSpc>
            </a:pPr>
            <a:r>
              <a:rPr lang="en-US" sz="10884" spc="-272">
                <a:solidFill>
                  <a:srgbClr val="0E4714"/>
                </a:solidFill>
                <a:latin typeface="Times New Roman Condensed"/>
                <a:ea typeface="Times New Roman Condensed"/>
                <a:cs typeface="Times New Roman Condensed"/>
                <a:sym typeface="Times New Roman Condensed"/>
              </a:rPr>
              <a:t>OBJECTIVES</a:t>
            </a:r>
          </a:p>
        </p:txBody>
      </p:sp>
      <p:sp>
        <p:nvSpPr>
          <p:cNvPr name="TextBox 3" id="3"/>
          <p:cNvSpPr txBox="true"/>
          <p:nvPr/>
        </p:nvSpPr>
        <p:spPr>
          <a:xfrm rot="0">
            <a:off x="713559" y="3536247"/>
            <a:ext cx="17574441" cy="5443855"/>
          </a:xfrm>
          <a:prstGeom prst="rect">
            <a:avLst/>
          </a:prstGeom>
        </p:spPr>
        <p:txBody>
          <a:bodyPr anchor="t" rtlCol="false" tIns="0" lIns="0" bIns="0" rIns="0">
            <a:spAutoFit/>
          </a:bodyPr>
          <a:lstStyle/>
          <a:p>
            <a:pPr algn="l" marL="604519" indent="-302260" lvl="1">
              <a:lnSpc>
                <a:spcPts val="3919"/>
              </a:lnSpc>
              <a:buFont typeface="Arial"/>
              <a:buChar char="•"/>
            </a:pPr>
            <a:r>
              <a:rPr lang="en-US" sz="2799" spc="-55">
                <a:solidFill>
                  <a:srgbClr val="0E4714"/>
                </a:solidFill>
                <a:latin typeface="Gotham"/>
                <a:ea typeface="Gotham"/>
                <a:cs typeface="Gotham"/>
                <a:sym typeface="Gotham"/>
              </a:rPr>
              <a:t>To design a peer-to-peer (P2P) power-sharing system that enables House B to buy surplus solar energy from House A during high-demand periods.</a:t>
            </a:r>
          </a:p>
          <a:p>
            <a:pPr algn="l" marL="604519" indent="-302260" lvl="1">
              <a:lnSpc>
                <a:spcPts val="3919"/>
              </a:lnSpc>
              <a:buFont typeface="Arial"/>
              <a:buChar char="•"/>
            </a:pPr>
            <a:r>
              <a:rPr lang="en-US" sz="2799" spc="-55">
                <a:solidFill>
                  <a:srgbClr val="0E4714"/>
                </a:solidFill>
                <a:latin typeface="Gotham"/>
                <a:ea typeface="Gotham"/>
                <a:cs typeface="Gotham"/>
                <a:sym typeface="Gotham"/>
              </a:rPr>
              <a:t>To develop a control strategy that manages power flow between House A, House B, and the EB, ensuring stable and secure operations.</a:t>
            </a:r>
          </a:p>
          <a:p>
            <a:pPr algn="l" marL="604519" indent="-302260" lvl="1">
              <a:lnSpc>
                <a:spcPts val="3919"/>
              </a:lnSpc>
              <a:buFont typeface="Arial"/>
              <a:buChar char="•"/>
            </a:pPr>
            <a:r>
              <a:rPr lang="en-US" sz="2799" spc="-55">
                <a:solidFill>
                  <a:srgbClr val="0E4714"/>
                </a:solidFill>
                <a:latin typeface="Gotham"/>
                <a:ea typeface="Gotham"/>
                <a:cs typeface="Gotham"/>
                <a:sym typeface="Gotham"/>
              </a:rPr>
              <a:t>To simulate and analyze the performance, reliability, and economic impacts of the proposed system under varying consumption and generation scenarios.</a:t>
            </a:r>
          </a:p>
          <a:p>
            <a:pPr algn="l" marL="604519" indent="-302260" lvl="1">
              <a:lnSpc>
                <a:spcPts val="3919"/>
              </a:lnSpc>
              <a:buFont typeface="Arial"/>
              <a:buChar char="•"/>
            </a:pPr>
            <a:r>
              <a:rPr lang="en-US" sz="2799" spc="-55">
                <a:solidFill>
                  <a:srgbClr val="0E4714"/>
                </a:solidFill>
                <a:latin typeface="Gotham"/>
                <a:ea typeface="Gotham"/>
                <a:cs typeface="Gotham"/>
                <a:sym typeface="Gotham"/>
              </a:rPr>
              <a:t>To propose metering and billing mechanisms for fair accounting of energy exchanges between the houses.</a:t>
            </a:r>
          </a:p>
          <a:p>
            <a:pPr algn="l" marL="604519" indent="-302260" lvl="1">
              <a:lnSpc>
                <a:spcPts val="3919"/>
              </a:lnSpc>
              <a:buFont typeface="Arial"/>
              <a:buChar char="•"/>
            </a:pPr>
            <a:r>
              <a:rPr lang="en-US" sz="2799" spc="-55">
                <a:solidFill>
                  <a:srgbClr val="0E4714"/>
                </a:solidFill>
                <a:latin typeface="Gotham"/>
                <a:ea typeface="Gotham"/>
                <a:cs typeface="Gotham"/>
                <a:sym typeface="Gotham"/>
              </a:rPr>
              <a:t>To evaluate the potential reduction in carbon footprint and grid dependency achieved through this localized energy sharing approach.</a:t>
            </a:r>
          </a:p>
          <a:p>
            <a:pPr algn="l">
              <a:lnSpc>
                <a:spcPts val="3919"/>
              </a:lnSpc>
            </a:pPr>
            <a:r>
              <a:rPr lang="en-US" sz="2799" spc="-55">
                <a:solidFill>
                  <a:srgbClr val="0E4714"/>
                </a:solidFill>
                <a:latin typeface="Gotham"/>
                <a:ea typeface="Gotham"/>
                <a:cs typeface="Gotham"/>
                <a:sym typeface="Gotham"/>
              </a:rPr>
              <a:t> </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E9EAE0"/>
        </a:solidFill>
      </p:bgPr>
    </p:bg>
    <p:spTree>
      <p:nvGrpSpPr>
        <p:cNvPr id="1" name=""/>
        <p:cNvGrpSpPr/>
        <p:nvPr/>
      </p:nvGrpSpPr>
      <p:grpSpPr>
        <a:xfrm>
          <a:off x="0" y="0"/>
          <a:ext cx="0" cy="0"/>
          <a:chOff x="0" y="0"/>
          <a:chExt cx="0" cy="0"/>
        </a:xfrm>
      </p:grpSpPr>
      <p:sp>
        <p:nvSpPr>
          <p:cNvPr name="TextBox 2" id="2"/>
          <p:cNvSpPr txBox="true"/>
          <p:nvPr/>
        </p:nvSpPr>
        <p:spPr>
          <a:xfrm rot="0">
            <a:off x="1028700" y="3311147"/>
            <a:ext cx="16230600" cy="544385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Gotham"/>
                <a:ea typeface="Gotham"/>
                <a:cs typeface="Gotham"/>
                <a:sym typeface="Gotham"/>
              </a:rPr>
              <a:t>The project focuses on a simplified microgrid model with two residential units connected to a centralized supply—EB.</a:t>
            </a:r>
          </a:p>
          <a:p>
            <a:pPr algn="l" marL="604519" indent="-302260" lvl="1">
              <a:lnSpc>
                <a:spcPts val="3919"/>
              </a:lnSpc>
              <a:buFont typeface="Arial"/>
              <a:buChar char="•"/>
            </a:pPr>
            <a:r>
              <a:rPr lang="en-US" sz="2799">
                <a:solidFill>
                  <a:srgbClr val="000000"/>
                </a:solidFill>
                <a:latin typeface="Gotham"/>
                <a:ea typeface="Gotham"/>
                <a:cs typeface="Gotham"/>
                <a:sym typeface="Gotham"/>
              </a:rPr>
              <a:t>Analysis will include house load profiles, solar generation patterns, power flow control, and system coordination.</a:t>
            </a:r>
          </a:p>
          <a:p>
            <a:pPr algn="l" marL="604519" indent="-302260" lvl="1">
              <a:lnSpc>
                <a:spcPts val="3919"/>
              </a:lnSpc>
              <a:buFont typeface="Arial"/>
              <a:buChar char="•"/>
            </a:pPr>
            <a:r>
              <a:rPr lang="en-US" sz="2799">
                <a:solidFill>
                  <a:srgbClr val="000000"/>
                </a:solidFill>
                <a:latin typeface="Gotham"/>
                <a:ea typeface="Gotham"/>
                <a:cs typeface="Gotham"/>
                <a:sym typeface="Gotham"/>
              </a:rPr>
              <a:t>Billing and settlement mechanisms for power transactions between households will be conceptualized but not implemented physically.</a:t>
            </a:r>
          </a:p>
          <a:p>
            <a:pPr algn="l" marL="604519" indent="-302260" lvl="1">
              <a:lnSpc>
                <a:spcPts val="3919"/>
              </a:lnSpc>
              <a:buFont typeface="Arial"/>
              <a:buChar char="•"/>
            </a:pPr>
            <a:r>
              <a:rPr lang="en-US" sz="2799">
                <a:solidFill>
                  <a:srgbClr val="000000"/>
                </a:solidFill>
                <a:latin typeface="Gotham"/>
                <a:ea typeface="Gotham"/>
                <a:cs typeface="Gotham"/>
                <a:sym typeface="Gotham"/>
              </a:rPr>
              <a:t>Grid interaction assumes a single point of connection with typical residential voltage levels and supply constraints.</a:t>
            </a:r>
          </a:p>
          <a:p>
            <a:pPr algn="l" marL="604519" indent="-302260" lvl="1">
              <a:lnSpc>
                <a:spcPts val="3919"/>
              </a:lnSpc>
              <a:buFont typeface="Arial"/>
              <a:buChar char="•"/>
            </a:pPr>
            <a:r>
              <a:rPr lang="en-US" sz="2799">
                <a:solidFill>
                  <a:srgbClr val="000000"/>
                </a:solidFill>
                <a:latin typeface="Gotham"/>
                <a:ea typeface="Gotham"/>
                <a:cs typeface="Gotham"/>
                <a:sym typeface="Gotham"/>
              </a:rPr>
              <a:t>The environmental impact evaluation will be limited to estimated energy savings and associated reductions in greenhouse gas emissions.</a:t>
            </a:r>
          </a:p>
          <a:p>
            <a:pPr algn="l">
              <a:lnSpc>
                <a:spcPts val="3919"/>
              </a:lnSpc>
            </a:pPr>
          </a:p>
        </p:txBody>
      </p:sp>
      <p:sp>
        <p:nvSpPr>
          <p:cNvPr name="TextBox 3" id="3"/>
          <p:cNvSpPr txBox="true"/>
          <p:nvPr/>
        </p:nvSpPr>
        <p:spPr>
          <a:xfrm rot="0">
            <a:off x="1239778" y="857250"/>
            <a:ext cx="8819912"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FUTURE SCOPE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9EAE0"/>
        </a:solidFill>
      </p:bgPr>
    </p:bg>
    <p:spTree>
      <p:nvGrpSpPr>
        <p:cNvPr id="1" name=""/>
        <p:cNvGrpSpPr/>
        <p:nvPr/>
      </p:nvGrpSpPr>
      <p:grpSpPr>
        <a:xfrm>
          <a:off x="0" y="0"/>
          <a:ext cx="0" cy="0"/>
          <a:chOff x="0" y="0"/>
          <a:chExt cx="0" cy="0"/>
        </a:xfrm>
      </p:grpSpPr>
      <p:sp>
        <p:nvSpPr>
          <p:cNvPr name="Freeform 2" id="2"/>
          <p:cNvSpPr/>
          <p:nvPr/>
        </p:nvSpPr>
        <p:spPr>
          <a:xfrm flipH="false" flipV="false" rot="0">
            <a:off x="4490515" y="-2377820"/>
            <a:ext cx="19285436" cy="15042640"/>
          </a:xfrm>
          <a:custGeom>
            <a:avLst/>
            <a:gdLst/>
            <a:ahLst/>
            <a:cxnLst/>
            <a:rect r="r" b="b" t="t" l="l"/>
            <a:pathLst>
              <a:path h="15042640" w="19285436">
                <a:moveTo>
                  <a:pt x="0" y="0"/>
                </a:moveTo>
                <a:lnTo>
                  <a:pt x="19285437" y="0"/>
                </a:lnTo>
                <a:lnTo>
                  <a:pt x="19285437" y="15042640"/>
                </a:lnTo>
                <a:lnTo>
                  <a:pt x="0" y="150426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19150" y="2700805"/>
            <a:ext cx="16440150" cy="3444776"/>
          </a:xfrm>
          <a:prstGeom prst="rect">
            <a:avLst/>
          </a:prstGeom>
        </p:spPr>
        <p:txBody>
          <a:bodyPr anchor="t" rtlCol="false" tIns="0" lIns="0" bIns="0" rIns="0">
            <a:spAutoFit/>
          </a:bodyPr>
          <a:lstStyle/>
          <a:p>
            <a:pPr algn="l">
              <a:lnSpc>
                <a:spcPts val="25368"/>
              </a:lnSpc>
              <a:spcBef>
                <a:spcPct val="0"/>
              </a:spcBef>
            </a:pPr>
            <a:r>
              <a:rPr lang="en-US" sz="18120" i="true" spc="-906">
                <a:solidFill>
                  <a:srgbClr val="0E4714"/>
                </a:solidFill>
                <a:latin typeface="Times New Roman Condensed Italics"/>
                <a:ea typeface="Times New Roman Condensed Italics"/>
                <a:cs typeface="Times New Roman Condensed Italics"/>
                <a:sym typeface="Times New Roman Condensed Italics"/>
              </a:rPr>
              <a:t>Thank you.</a:t>
            </a:r>
          </a:p>
        </p:txBody>
      </p:sp>
      <p:sp>
        <p:nvSpPr>
          <p:cNvPr name="Freeform 4" id="4"/>
          <p:cNvSpPr/>
          <p:nvPr/>
        </p:nvSpPr>
        <p:spPr>
          <a:xfrm flipH="false" flipV="false" rot="0">
            <a:off x="1016407" y="7604949"/>
            <a:ext cx="718917" cy="669492"/>
          </a:xfrm>
          <a:custGeom>
            <a:avLst/>
            <a:gdLst/>
            <a:ahLst/>
            <a:cxnLst/>
            <a:rect r="r" b="b" t="t" l="l"/>
            <a:pathLst>
              <a:path h="669492" w="718917">
                <a:moveTo>
                  <a:pt x="0" y="0"/>
                </a:moveTo>
                <a:lnTo>
                  <a:pt x="718918" y="0"/>
                </a:lnTo>
                <a:lnTo>
                  <a:pt x="718918" y="669492"/>
                </a:lnTo>
                <a:lnTo>
                  <a:pt x="0" y="669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DAGwA4dkSDE</dc:identifier>
  <dcterms:modified xsi:type="dcterms:W3CDTF">2011-08-01T06:04:30Z</dcterms:modified>
  <cp:revision>1</cp:revision>
  <dc:title>Green Minimalist Professional Tech Start-Up Pitch Deck Presentation</dc:title>
</cp:coreProperties>
</file>